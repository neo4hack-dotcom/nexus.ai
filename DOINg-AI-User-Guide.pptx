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EDITION 2026  ·  USER GUIDE  · 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DOINg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54864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3E00"/>
                </a:solidFill>
                <a:latin typeface="Calibri"/>
              </a:rPr>
              <a:t>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2C5CF"/>
                </a:solidFill>
                <a:latin typeface="Calibri"/>
              </a:rPr>
              <a:t>Make every project visible.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local-first AI Project Operations workspace.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017520"/>
            <a:ext cx="41148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1272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LOCAL-FIRST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649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2C5CF"/>
                </a:solidFill>
                <a:latin typeface="Calibri"/>
              </a:rPr>
              <a:t>Data on your machine.
Always available, never leaked.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3017520"/>
            <a:ext cx="41148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31272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AI-AUGMENTED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649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2C5CF"/>
                </a:solidFill>
                <a:latin typeface="Calibri"/>
              </a:rPr>
              <a:t>Local LLM enrichment.
No cloud calls.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3017520"/>
            <a:ext cx="41148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31272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TEAM-AWARE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36499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2C5CF"/>
                </a:solidFill>
                <a:latin typeface="Calibri"/>
              </a:rPr>
              <a:t>SSE real-time sync.
Four roles, one matrix.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292608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11312" y="292608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292608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50224" y="292608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5008" y="277977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57616" y="277977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0" y="277977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18704" y="263347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11312" y="263347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57616" y="263347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0" y="248716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5008" y="248716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11312" y="248716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50224" y="248716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18704" y="234086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5008" y="234086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234086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50224" y="234086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0" y="21945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18704" y="21945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57616" y="21945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03920" y="21945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20482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11312" y="20482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57616" y="20482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50224" y="20482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65008" y="19019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11312" y="19019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03920" y="19019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18704" y="17556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65008" y="17556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57616" y="17556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0" y="16093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18704" y="16093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11312" y="16093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650224" y="16093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4814316"/>
            <a:ext cx="9144000" cy="329184"/>
          </a:xfrm>
          <a:prstGeom prst="rect">
            <a:avLst/>
          </a:prstGeom>
          <a:solidFill>
            <a:srgbClr val="15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486918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7280"/>
                </a:solidFill>
                <a:latin typeface="Calibri"/>
              </a:rPr>
              <a:t>V1.0  ·  MAY 2026  ·  PUBLIC EDITION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0" y="4869180"/>
            <a:ext cx="8778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DOING.AI  ·  USER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TABLE OF 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115"/>
                </a:solidFill>
                <a:latin typeface="Calibri"/>
              </a:rPr>
              <a:t>What you will find inside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987552"/>
            <a:ext cx="502920" cy="457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15568"/>
            <a:ext cx="292608" cy="29260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152144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11556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Welcome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316736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Mission, principles, workspace tour.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1499616"/>
            <a:ext cx="3657600" cy="9144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1828800"/>
            <a:ext cx="292608" cy="29260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865376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8288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Project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02996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Projects · Timeline · Risk · Communications.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212848"/>
            <a:ext cx="3657600" cy="9144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542032"/>
            <a:ext cx="292608" cy="29260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578608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54203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Catalogs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74320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Technologies · Repos · Hackathons · MCP Hub · AI Agents.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2926080"/>
            <a:ext cx="3657600" cy="9144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255264"/>
            <a:ext cx="292608" cy="29260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291840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25526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Collaboration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456432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Working Groups and Weekly Check-in.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639312"/>
            <a:ext cx="3657600" cy="9144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005072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96849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Personal Tools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16966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Smart ToDo and the Wish List.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352544"/>
            <a:ext cx="3657600" cy="9144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1115568"/>
            <a:ext cx="292608" cy="29260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1152144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111556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AI Companion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1316736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Assistant · Executive Insight · Command Palette.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1499616"/>
            <a:ext cx="3657600" cy="9144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846320" y="1828800"/>
            <a:ext cx="292608" cy="29260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1865376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0" y="18288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Notifications &amp; You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202996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Alerts, profile, theme, self-service password change.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80" y="2212848"/>
            <a:ext cx="3657600" cy="9144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46320" y="2542032"/>
            <a:ext cx="292608" cy="29260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0" y="2578608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12080" y="254203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Data Feeds (IT)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0" y="274320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Pipeline registry — admin + IT flag required.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12080" y="2926080"/>
            <a:ext cx="3657600" cy="9144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46320" y="3255264"/>
            <a:ext cx="292608" cy="29260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6320" y="3291840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80" y="325526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Annex — Architecture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80" y="3456432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Local-first storage, real-time sync, LLM integration.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12080" y="3639312"/>
            <a:ext cx="3657600" cy="9144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46320" y="3968496"/>
            <a:ext cx="292608" cy="29260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46320" y="4005072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80" y="396849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Annex — Permissions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80" y="416966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The full role × group matrix.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12080" y="4352544"/>
            <a:ext cx="3657600" cy="9144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46320" y="4681728"/>
            <a:ext cx="292608" cy="29260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46320" y="4718304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12080" y="468172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Annex — Shortcuts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12080" y="4882896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Keyboard shortcuts and glossary.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12080" y="5065776"/>
            <a:ext cx="3657600" cy="9144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FF3E00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65760"/>
            <a:ext cx="36576" cy="43891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548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YOUR LOCAL-FIRST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822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WELCOME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508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2C5CF"/>
                </a:solidFill>
                <a:latin typeface="Calibri"/>
              </a:rPr>
              <a:t>A quick orientation to what DOINg.AI is, the three pillars that shape every screen, and how to use this deck.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2144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91056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44752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9105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3664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98448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4475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37360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9844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91056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214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44752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8366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WELCOME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01 · WELCOME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115"/>
                </a:solidFill>
                <a:latin typeface="Calibri"/>
              </a:rPr>
              <a:t>What is DOINg.AI?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005840"/>
            <a:ext cx="502920" cy="457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115568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115"/>
                </a:solidFill>
                <a:latin typeface="Calibri"/>
              </a:rPr>
              <a:t>DOINg.AI is your team's local-first AI Project Operations workspace. It brings together every moving part of your innovation portfolio — projects, technologies, repositories, hackathons, MCP servers, AI agents, working groups, and personal todos — under one dark, keyboard-friendly canvas. Your data lives on your machine; nothing is shipped to the cloud unless you explicitly export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77440"/>
            <a:ext cx="2651760" cy="6400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48716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115"/>
                </a:solidFill>
                <a:latin typeface="Calibri"/>
              </a:rPr>
              <a:t>LOCAL-FIRST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72491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280"/>
                </a:solidFill>
                <a:latin typeface="Calibri"/>
              </a:rPr>
              <a:t>localStorage + db.json on your network. Real-time SSE sync. Zero cloud dependency.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2377440"/>
            <a:ext cx="265176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248716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115"/>
                </a:solidFill>
                <a:latin typeface="Calibri"/>
              </a:rPr>
              <a:t>AI-AUGMENTED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72491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280"/>
                </a:solidFill>
                <a:latin typeface="Calibri"/>
              </a:rPr>
              <a:t>Plug Ollama, LM Studio, or n8n. Every prompt template editable. LLM stays on your network.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377440"/>
            <a:ext cx="26517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48716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115"/>
                </a:solidFill>
                <a:latin typeface="Calibri"/>
              </a:rPr>
              <a:t>TEAM-AWARE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72491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280"/>
                </a:solidFill>
                <a:latin typeface="Calibri"/>
              </a:rPr>
              <a:t>Four roles (admin / manager / contributor / viewer) shape every screen via a centralised permission matrix.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66160"/>
            <a:ext cx="8412480" cy="1325880"/>
          </a:xfrm>
          <a:prstGeom prst="rect">
            <a:avLst/>
          </a:prstGeom>
          <a:solidFill>
            <a:srgbClr val="FFF4EE"/>
          </a:solidFill>
          <a:ln w="9525">
            <a:solidFill>
              <a:srgbClr val="FF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566160"/>
            <a:ext cx="64008" cy="132588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365760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💡  HOW TO READ THIS 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3858768"/>
            <a:ext cx="822960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Sections 01–07 walk through each functional area. Annex A explains how the app is built; Annex B is the full permission matrix; Annex C is for keyboard-loving users. Every text element in this deck is editable — click any box and start typing.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FF3E00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65760"/>
            <a:ext cx="36576" cy="43891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548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NAVIGATE WITHOUT FRICTION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822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WORKSPACE 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508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2C5CF"/>
                </a:solidFill>
                <a:latin typeface="Calibri"/>
              </a:rPr>
              <a:t>The three regions of the workspace, how the sidebar is organised, and the always-on AI surfaces.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2144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91056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44752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9105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3664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98448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4475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37360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9844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91056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214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44752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8366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WORKSPACE TOUR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02 · WORKSPACE TOUR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Three regions, one keyboard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960120"/>
            <a:ext cx="502920" cy="457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097280"/>
            <a:ext cx="1691640" cy="3794760"/>
          </a:xfrm>
          <a:prstGeom prst="rect">
            <a:avLst/>
          </a:prstGeom>
          <a:solidFill>
            <a:srgbClr val="15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1704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DOINg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17043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E00"/>
                </a:solidFill>
                <a:latin typeface="Calibri"/>
              </a:rPr>
              <a:t>.AI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463040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2C5CF"/>
                </a:solidFill>
                <a:latin typeface="Calibri"/>
              </a:rPr>
              <a:t>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682496"/>
            <a:ext cx="1691640" cy="21945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700784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PROJECTS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38528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2C5CF"/>
                </a:solidFill>
                <a:latin typeface="Calibri"/>
              </a:rPr>
              <a:t>TIMELINE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176272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2C5CF"/>
                </a:solidFill>
                <a:latin typeface="Calibri"/>
              </a:rPr>
              <a:t>RISK HEATMAP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414016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2C5CF"/>
                </a:solidFill>
                <a:latin typeface="Calibri"/>
              </a:rPr>
              <a:t>COMMUNICATIONS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651760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2C5CF"/>
                </a:solidFill>
                <a:latin typeface="Calibri"/>
              </a:rPr>
              <a:t>TECHNOLOGIES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89504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2C5CF"/>
                </a:solidFill>
                <a:latin typeface="Calibri"/>
              </a:rPr>
              <a:t>REPOSITORIES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127248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2C5CF"/>
                </a:solidFill>
                <a:latin typeface="Calibri"/>
              </a:rPr>
              <a:t>HACKATHONS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364992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2C5CF"/>
                </a:solidFill>
                <a:latin typeface="Calibri"/>
              </a:rPr>
              <a:t>MCP 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602736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2C5CF"/>
                </a:solidFill>
                <a:latin typeface="Calibri"/>
              </a:rPr>
              <a:t>AI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40480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2C5CF"/>
                </a:solidFill>
                <a:latin typeface="Calibri"/>
              </a:rPr>
              <a:t>WORKING GROUPS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78224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2C5CF"/>
                </a:solidFill>
                <a:latin typeface="Calibri"/>
              </a:rPr>
              <a:t>WEEKLY CHECK-IN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315968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2C5CF"/>
                </a:solidFill>
                <a:latin typeface="Calibri"/>
              </a:rPr>
              <a:t>SMART TODO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53712"/>
            <a:ext cx="1581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2C5CF"/>
                </a:solidFill>
                <a:latin typeface="Calibri"/>
              </a:rPr>
              <a:t>WISH 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507992"/>
            <a:ext cx="1691640" cy="384048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562856"/>
            <a:ext cx="228600" cy="22860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55371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JD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599432"/>
            <a:ext cx="1188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JANE DOE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4736592"/>
            <a:ext cx="1188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FF3E00"/>
                </a:solidFill>
                <a:latin typeface="Calibri"/>
              </a:rPr>
              <a:t>CONTRIBUTOR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1188720"/>
            <a:ext cx="274320" cy="2743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94560" y="1234440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1188720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Live sync indicator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1426464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280"/>
                </a:solidFill>
                <a:latin typeface="Calibri"/>
              </a:rPr>
              <a:t>Green dot = backend reachable and pushing real-time SSE updates.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1783080"/>
            <a:ext cx="6583680" cy="7315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94560" y="2121408"/>
            <a:ext cx="274320" cy="2743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94560" y="2167128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2121408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Functional groups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235915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280"/>
                </a:solidFill>
                <a:latin typeface="Calibri"/>
              </a:rPr>
              <a:t>Sidebar items grouped by what they DO: management, catalogs, collaboration, tools.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94560" y="2715768"/>
            <a:ext cx="6583680" cy="7315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194560" y="3054096"/>
            <a:ext cx="274320" cy="2743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94560" y="3099816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0" y="3054096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Active highlight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0" y="32918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280"/>
                </a:solidFill>
                <a:latin typeface="Calibri"/>
              </a:rPr>
              <a:t>Current screen highlighted in brand orange.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94560" y="3648456"/>
            <a:ext cx="6583680" cy="7315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194560" y="3986784"/>
            <a:ext cx="274320" cy="2743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94560" y="4032504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0320" y="3986784"/>
            <a:ext cx="6217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Identity card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60320" y="422452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280"/>
                </a:solidFill>
                <a:latin typeface="Calibri"/>
              </a:rPr>
              <a:t>Key icon → change password. Door icon → sign out.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94560" y="4581144"/>
            <a:ext cx="6583680" cy="7315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FF3E00"/>
                </a:solidFill>
                <a:latin typeface="Calibr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65760"/>
            <a:ext cx="36576" cy="43891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548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WHERE THE WORK LANDS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822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508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2C5CF"/>
                </a:solidFill>
                <a:latin typeface="Calibri"/>
              </a:rPr>
              <a:t>Projects, Timeline, Risk Heatmap, Communications — the four screens that drive day-to-day delivery.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2144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91056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44752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9105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3664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98448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4475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37360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9844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91056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214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44752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8366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PROJECT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G1 · PROJECT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Projects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7280"/>
                </a:solidFill>
                <a:latin typeface="Calibri"/>
              </a:rPr>
              <a:t>The heart of your portfolio.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115568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2070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38988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Rich record: description, context, manager, members, tasks, milestones, tags, technologies, repositories, audit log. Status, dev stage, and innovation maturity are first-class.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143000"/>
            <a:ext cx="3108960" cy="13716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143000"/>
            <a:ext cx="310896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243584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E00"/>
                </a:solidFill>
                <a:latin typeface="Calibri"/>
              </a:rPr>
              <a:t>PROJECTS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KEY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65176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Create from scratch, from a template, or by importing raw notes via AI.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Assign a manager and members — the assignment opens visibility for them.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Add tasks with priority, ETA, weight, and dependencies — they roll up to the timeline.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Flag projects as 'important' or 'archived'; filters everywhere honour those flags.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8412480" cy="804672"/>
          </a:xfrm>
          <a:prstGeom prst="rect">
            <a:avLst/>
          </a:prstGeom>
          <a:solidFill>
            <a:srgbClr val="FFF4EE"/>
          </a:solidFill>
          <a:ln w="9525">
            <a:solidFill>
              <a:srgbClr val="FF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64008" cy="8046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9768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💡  PRO TIP — USE THE FAMILY FIELD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449884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Group projects under a Family (e.g. 'AI Efficiency'). The Dashboard breaks down KPIs by family, and the Wish List can reference them directly.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PROJECT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G1 · PROJECT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7280"/>
                </a:solidFill>
                <a:latin typeface="Calibri"/>
              </a:rPr>
              <a:t>A Gantt across the whole portfolio.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115568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2070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38988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Every project becomes a bar from start date to deadline. Milestones appear as diamonds; tasks are nested rows. Filter by family, status, manager, or tag to focus, or zoom out to spot deadline clashes a quarter ahead.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143000"/>
            <a:ext cx="3108960" cy="13716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143000"/>
            <a:ext cx="310896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243584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E00"/>
                </a:solidFill>
                <a:latin typeface="Calibri"/>
              </a:rPr>
              <a:t>TIMELINE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KEY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65176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Drag a bar to shift a project window — the change persists immediately.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Click a milestone diamond to mark it done or edit its date.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Use the today line to spot what should land this week.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Hover any bar for a 2-line tooltip with project status and manager.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8412480" cy="804672"/>
          </a:xfrm>
          <a:prstGeom prst="rect">
            <a:avLst/>
          </a:prstGeom>
          <a:solidFill>
            <a:srgbClr val="FFF4EE"/>
          </a:solidFill>
          <a:ln w="9525">
            <a:solidFill>
              <a:srgbClr val="FF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64008" cy="8046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9768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💡  PRO TIP — PRINT THIS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449884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The browser print dialog (⌘P) renders the timeline as a landscape PDF — perfect for a quarterly steering deck.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PROJECT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G1 · PROJECT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Risk Heatmap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7280"/>
                </a:solidFill>
                <a:latin typeface="Calibri"/>
              </a:rPr>
              <a:t>Probability × Impact, at a glance.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115568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2070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38988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Every project carries a risk profile. The Heatmap renders the portfolio on a 2D grid: probability on one axis, impact on the other. Hot zones glow brand orange so the highest-priority items pop immediately.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143000"/>
            <a:ext cx="3108960" cy="13716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143000"/>
            <a:ext cx="310896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243584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E00"/>
                </a:solidFill>
                <a:latin typeface="Calibri"/>
              </a:rPr>
              <a:t>RISK HEATMAP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KEY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65176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Adjust a project's risk score inline — heatmap updates instantly.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Filter by family to compare risk profiles across initiatives.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Use the AI mitigation generator to draft a starter mitigation plan.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8412480" cy="804672"/>
          </a:xfrm>
          <a:prstGeom prst="rect">
            <a:avLst/>
          </a:prstGeom>
          <a:solidFill>
            <a:srgbClr val="FFF4EE"/>
          </a:solidFill>
          <a:ln w="9525">
            <a:solidFill>
              <a:srgbClr val="FF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64008" cy="8046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9768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💡  PRO TIP — REVIEW WEEKLY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449884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Treat the heatmap like a pre-meeting check. Anything in the top-right quadrant deserves a 60-second talk in your next stand-up — even if everything else is green.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PROJECT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G1 · PROJECT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Communications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7280"/>
                </a:solidFill>
                <a:latin typeface="Calibri"/>
              </a:rPr>
              <a:t>Drafts, newsletters, weeklies — in one place.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115568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2070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38988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Compose weekly status updates, monthly newsletters, Exco briefs, or info posts. Target mailing lists, attach project context, and let the LLM draft the body from your bullet points.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143000"/>
            <a:ext cx="3108960" cy="13716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143000"/>
            <a:ext cx="310896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243584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E00"/>
                </a:solidFill>
                <a:latin typeface="Calibri"/>
              </a:rPr>
              <a:t>COMMUNICATIONS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KEY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65176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Pick a template (weekly, newsletter, exco, info) — each has its own prompt.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Attach related projects so the AI has full context when drafting.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Choose mailing lists; recipient count is computed live.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Save as draft or mark as sent — the audit log preserves the trail.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8412480" cy="804672"/>
          </a:xfrm>
          <a:prstGeom prst="rect">
            <a:avLst/>
          </a:prstGeom>
          <a:solidFill>
            <a:srgbClr val="FFF4EE"/>
          </a:solidFill>
          <a:ln w="9525">
            <a:solidFill>
              <a:srgbClr val="FF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64008" cy="8046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9768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💡  PRO TIP — START FROM A BRIEF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449884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On a project page, click 'Generate exec brief'. Copy that into a new Communication and the AI will tighten it into a newsletter — no blank-page anxiety.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FF3E00"/>
                </a:solidFill>
                <a:latin typeface="Calibr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65760"/>
            <a:ext cx="36576" cy="43891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548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SHARED ASSETS · LIVING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822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CATALOGS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508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2C5CF"/>
                </a:solidFill>
                <a:latin typeface="Calibri"/>
              </a:rPr>
              <a:t>Technologies, repositories, hackathons, MCP servers, AI agents — the building blocks the whole team can reach for.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2144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91056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44752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9105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3664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98448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4475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37360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9844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91056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214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44752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8366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CATALOGS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PUBLIC · TECHNOLOGIES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7280"/>
                </a:solidFill>
                <a:latin typeface="Calibri"/>
              </a:rPr>
              <a:t>A living radar of your stack.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115568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2070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38988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Catalogue every framework, library, database, language, or service. Each entry carries a layer (frontend / backend / data / ML-AI) and a maturity status (evaluating / adopted / deprecated / hold).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143000"/>
            <a:ext cx="3108960" cy="13716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143000"/>
            <a:ext cx="31089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243584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TECHNOLOGIES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KEY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65176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Add a tech with name, category, layer, and maturity in one click.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Browse by layer or maturity; filter to 'evaluating' to see your innovation funnel.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Link a project to a tech — it appears on both pages.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Use AI enrichment to auto-fill description, version, license, and URL.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8412480" cy="804672"/>
          </a:xfrm>
          <a:prstGeom prst="rect">
            <a:avLst/>
          </a:prstGeom>
          <a:solidFill>
            <a:srgbClr val="FFF4EE"/>
          </a:solidFill>
          <a:ln w="9525">
            <a:solidFill>
              <a:srgbClr val="FF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64008" cy="8046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9768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💡  PRO TIP — QUARTERLY TECH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449884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Once a quarter, scan the 'Evaluating' tier with the team. Promote what stuck, deprecate what you stopped using. The catalog should reflect reality, not aspirations.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CATALOGS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G2 · CODE REPOSITORIES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Repositories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7280"/>
                </a:solidFill>
                <a:latin typeface="Calibri"/>
              </a:rPr>
              <a:t>Source-control, mapped to projects.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115568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2070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38988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Directory of every repo (Bitbucket, GitHub, GitLab, Azure) your team owns or contributes to. Visibility, provider, language, and project links are all first-class.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143000"/>
            <a:ext cx="3108960" cy="13716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143000"/>
            <a:ext cx="31089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243584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REPOSITORIES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KEY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65176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Add a repo manually or bulk-import from your provider with a single token.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Link a repo to one or more projects — appears on both records.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Use the visibility chip to spot private repos at a glance.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Search by language to find your Python or TypeScript estate in a click.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8412480" cy="804672"/>
          </a:xfrm>
          <a:prstGeom prst="rect">
            <a:avLst/>
          </a:prstGeom>
          <a:solidFill>
            <a:srgbClr val="FFF4EE"/>
          </a:solidFill>
          <a:ln w="9525">
            <a:solidFill>
              <a:srgbClr val="FF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64008" cy="8046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9768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💡  PRO TIP — KEEP IT ACCURATE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449884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When you spin up a new repo, add it here the same day. A 30-second discipline; the catalog stays trustworthy for everyone else.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CATALOGS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G2 · HACKATHONS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Hackathons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7280"/>
                </a:solidFill>
                <a:latin typeface="Calibri"/>
              </a:rPr>
              <a:t>From kick-off to retrospective in one place.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115568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2070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38988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Run hackathons end-to-end: theme, objective, challenge, dates, location, participants (devs, SMEs, experts, PMs), docs (briefs, guides, results), and a live message thread.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143000"/>
            <a:ext cx="3108960" cy="13716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143000"/>
            <a:ext cx="31089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243584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HACKATHONS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KEY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65176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Plan with status (upcoming / active / completed / archived) and dates.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Add participants with roles and teams; export the roster.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Drop briefs and guides as docs; participants can author and edit.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When done, generate the AI synthesis for a polished retrospective.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8412480" cy="804672"/>
          </a:xfrm>
          <a:prstGeom prst="rect">
            <a:avLst/>
          </a:prstGeom>
          <a:solidFill>
            <a:srgbClr val="FFF4EE"/>
          </a:solidFill>
          <a:ln w="9525">
            <a:solidFill>
              <a:srgbClr val="FF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64008" cy="8046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9768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💡  PRO TIP — LINK TO A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449884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If a hackathon produces something real, create a project AND a Wish List entry that references both. The lineage is captured forever in your audit log.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CATALOGS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G2 · MCP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MCP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7280"/>
                </a:solidFill>
                <a:latin typeface="Calibri"/>
              </a:rPr>
              <a:t>Your Model Context Protocol catalogue.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115568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2070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38988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Every MCP server (bridges that let LLMs call your internal systems) lives here. Each card carries description, tools, deploy status (dev / UAT / production), family, scope, and an AI-driven code analysis with security/perf recommendations.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143000"/>
            <a:ext cx="3108960" cy="13716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143000"/>
            <a:ext cx="31089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243584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MCP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KEY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65176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Add a server declaratively or by URL — the Hub inventories its tools.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Group servers in families with a custom colour for cross-portfolio visibility.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Run AI code analysis to surface security/perf issues — track fixes inline.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Export a PDF booklet of the whole Hub for an Exco committee.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8412480" cy="804672"/>
          </a:xfrm>
          <a:prstGeom prst="rect">
            <a:avLst/>
          </a:prstGeom>
          <a:solidFill>
            <a:srgbClr val="FFF4EE"/>
          </a:solidFill>
          <a:ln w="9525">
            <a:solidFill>
              <a:srgbClr val="FF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64008" cy="8046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9768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💡  PRO TIP — SHARE WITH SPONSORS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449884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The PDF booklet is purpose-built for non-technical stakeholders. One click, polished output, brand-consistent. Drop it in Slack or attach to a steering deck.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CATALOGS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G2 · AI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AI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7280"/>
                </a:solidFill>
                <a:latin typeface="Calibri"/>
              </a:rPr>
              <a:t>Track internal agents from idea to production.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115568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2070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38988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A purpose-built tracker that adds agent-specific fields: model, framework (LangChain, LlamaIndex, CrewAI, AutoGen, n8n, custom), system prompt, knowledge bases, tools, and release/eval history.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143000"/>
            <a:ext cx="3108960" cy="13716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143000"/>
            <a:ext cx="31089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243584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AI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KEY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65176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Track agents through 6 stages: idea → design → dev → testing → production → deprecated.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Link an agent to the MCP servers it depends on.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Capture monthly invocations, cost, success rate for ops dashboards.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Use families and tags to group by business domain.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8412480" cy="804672"/>
          </a:xfrm>
          <a:prstGeom prst="rect">
            <a:avLst/>
          </a:prstGeom>
          <a:solidFill>
            <a:srgbClr val="FFF4EE"/>
          </a:solidFill>
          <a:ln w="9525">
            <a:solidFill>
              <a:srgbClr val="FF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64008" cy="8046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9768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💡  PRO TIP — LOG EVERY 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449884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After each regression run, add an evaluation record. Three months in, you have a real time series — quality and cost trends you can show to leadership.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FF3E00"/>
                </a:solidFill>
                <a:latin typeface="Calibri"/>
              </a:rPr>
              <a:t>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65760"/>
            <a:ext cx="36576" cy="43891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548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G5 · ADMIN + IT FLAG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822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508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2C5CF"/>
                </a:solidFill>
                <a:latin typeface="Calibri"/>
              </a:rPr>
              <a:t>Data Feeds — the silver-copy pipeline registry. Visible to admin and users with the IT flag activated by an admin.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2144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91056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44752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9105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3664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98448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4475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37360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9844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91056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214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44752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8366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DATA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6032"/>
            <a:ext cx="8412480" cy="23774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5176"/>
            <a:ext cx="8046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🔒  RESTRICTED ACCESS — visible to Admin and users with the IT flag activated in Settings → 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66928"/>
            <a:ext cx="1645920" cy="2011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G5 · DATA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Data Feeds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17043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7280"/>
                </a:solidFill>
                <a:latin typeface="Calibri"/>
              </a:rPr>
              <a:t>The silver-copy &amp; data-warehouse pipeline registry.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353312"/>
            <a:ext cx="50292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4447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WHAT IT DOES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627632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Centralised registry of every data pipeline that feeds your silver copies and data warehouses. Each feed documents the source platform, data type, frequency, source → destination mapping, production date, JIRA reference, cost in Man-Days, and the PM and developer responsible.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1389888"/>
            <a:ext cx="3108960" cy="109728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0" y="1389888"/>
            <a:ext cx="310896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1490472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DATA FEEDS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42032"/>
            <a:ext cx="731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2487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Calibri"/>
              </a:rPr>
              <a:t>Platform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248716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Source system (ex: Salesforce, SAP, Oracle)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834640"/>
            <a:ext cx="731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277977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Calibri"/>
              </a:rPr>
              <a:t>Data 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277977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Nature of the data (CRM events, Finance ledger…)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127248"/>
            <a:ext cx="731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30723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Calibri"/>
              </a:rPr>
              <a:t>Frequency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30723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realtime / hourly / daily / weekly / monthly / on_demand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419856"/>
            <a:ext cx="731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" y="336499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Calibri"/>
              </a:rPr>
              <a:t>Source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55648" y="336499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Origin endpoint — DB, API, file, streaming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712464"/>
            <a:ext cx="731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" y="36576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Calibri"/>
              </a:rPr>
              <a:t>Destination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55648" y="365760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Silver copy table or DWH schema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005072"/>
            <a:ext cx="731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" y="395020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Calibri"/>
              </a:rPr>
              <a:t>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55648" y="39502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planned → in_dev → uat → production → deprecated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60" y="2542032"/>
            <a:ext cx="731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55464" y="24871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Calibri"/>
              </a:rPr>
              <a:t>Prod 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9048" y="248716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Date the feed went live in production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834640"/>
            <a:ext cx="731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55464" y="277977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Calibri"/>
              </a:rPr>
              <a:t>JIRA ref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9048" y="277977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Reference ticket for traceability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3127248"/>
            <a:ext cx="731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55464" y="307238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Calibri"/>
              </a:rPr>
              <a:t>Cost (Man-Days)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9048" y="30723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Estimated delivery effort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09160" y="3419856"/>
            <a:ext cx="731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55464" y="336499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Calibri"/>
              </a:rPr>
              <a:t>ETA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9048" y="336499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Expected go-live if not yet in production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09160" y="3712464"/>
            <a:ext cx="731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55464" y="36576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Calibri"/>
              </a:rPr>
              <a:t>Project Manager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9048" y="365760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PM name (free text)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09160" y="4005072"/>
            <a:ext cx="73152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55464" y="395020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Calibri"/>
              </a:rPr>
              <a:t>Developer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9048" y="39502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Dev name + presentation link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233672"/>
            <a:ext cx="8412480" cy="749808"/>
          </a:xfrm>
          <a:prstGeom prst="rect">
            <a:avLst/>
          </a:prstGeom>
          <a:solidFill>
            <a:srgbClr val="FFF4EE"/>
          </a:solidFill>
          <a:ln w="9525">
            <a:solidFill>
              <a:srgbClr val="FF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5760" y="4233672"/>
            <a:ext cx="64008" cy="74980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2064" y="432511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💡  WHO CAN SEE THIS SECTION?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2064" y="4526280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Data Feeds is visible to Admin users AND any user whose profile has the IT flag enabled. An admin can toggle the IT flag per user in Settings → Security. Use this section to maintain a full inventory of your data pipelines with clear ownership and SLA context.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FF3E00"/>
                </a:solidFill>
                <a:latin typeface="Calibr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65760"/>
            <a:ext cx="36576" cy="43891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548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WORKING TOGETHER · ASYNC-FIRST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822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COLLABORATION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508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2C5CF"/>
                </a:solidFill>
                <a:latin typeface="Calibri"/>
              </a:rPr>
              <a:t>Working Groups for standing squads and Weekly Check-in to keep the team rhythm.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2144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91056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44752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9105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3664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98448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4475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37360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9844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91056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214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44752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8366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COLLABORATION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G4 · WORKING GROUPS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Working 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7280"/>
                </a:solidFill>
                <a:latin typeface="Calibri"/>
              </a:rPr>
              <a:t>Standing squads with memory.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115568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2070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38988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A long-running cross-functional squad with an objective, roster (lead / contributor / observer), task board (Kanban with priorities and checklists), and meeting notes with decisions and action items.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143000"/>
            <a:ext cx="3108960" cy="13716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143000"/>
            <a:ext cx="3108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243584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WORKING GROUPS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KEY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65176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Create a group; invite members with role (lead / contributor / observer).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Run sessions: capture agenda, notes, decisions, and action items.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Action items carry forward — open ones surface in the next meeting prep.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Track tasks in a focused board (todo / doing / review / done).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8412480" cy="804672"/>
          </a:xfrm>
          <a:prstGeom prst="rect">
            <a:avLst/>
          </a:prstGeom>
          <a:solidFill>
            <a:srgbClr val="FFF4EE"/>
          </a:solidFill>
          <a:ln w="9525">
            <a:solidFill>
              <a:srgbClr val="FF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64008" cy="8046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9768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💡  PRO TIP — CLOSE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449884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At every session, do a 2-minute 'carried action' review. The system shows you what was opened last time. Nothing falls through the cracks.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COLLABORATION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G4 · WEEKLY CHECK-IN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Weekly Check-in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7280"/>
                </a:solidFill>
                <a:latin typeface="Calibri"/>
              </a:rPr>
              <a:t>Two minutes, every Monday.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115568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2070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38988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A short structured form: accomplishments, blockers, next steps, mood (green / amber / red). Submit it; it shows up on the team dashboard and feeds the AI weekly digest.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143000"/>
            <a:ext cx="3108960" cy="13716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143000"/>
            <a:ext cx="3108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243584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WEEKLY CHECK-IN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KEY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65176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Reuse last week as a starting point — only edit what changed.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Set mood with one click; the dashboard shows team weather at a glance.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Read peers' check-ins in the dashboard digest for async stand-up vibes.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Skipping a week triggers a friendly nudge in your notifications.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8412480" cy="804672"/>
          </a:xfrm>
          <a:prstGeom prst="rect">
            <a:avLst/>
          </a:prstGeom>
          <a:solidFill>
            <a:srgbClr val="FFF4EE"/>
          </a:solidFill>
          <a:ln w="9525">
            <a:solidFill>
              <a:srgbClr val="FF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64008" cy="8046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9768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💡  PRO TIP — BLOCK 2 MINUTES MONDAY MORNING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449884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Same time every week. After a month, it's automatic and your manager has constant, low-overhead visibility.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FF3E00"/>
                </a:solidFill>
                <a:latin typeface="Calibri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65760"/>
            <a:ext cx="36576" cy="43891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548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YOUR SPACE INSIDE THE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822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PERSONAL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508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2C5CF"/>
                </a:solidFill>
                <a:latin typeface="Calibri"/>
              </a:rPr>
              <a:t>Smart ToDo for everything that doesn't deserve a project, and the Wish List for what you want from the team.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2144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91056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44752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9105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3664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98448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4475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37360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9844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91056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214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44752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8366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PERSONAL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PUBLIC · SMART TODO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Smart ToDo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7280"/>
                </a:solidFill>
                <a:latin typeface="Calibri"/>
              </a:rPr>
              <a:t>A personal task tracker with AI-grade structure.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115568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2070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38988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For anything that isn't a full project but still needs tracking. Each item carries requester, sponsor, priority, Eisenhower quadrant, energy required, estimated duration, and planning horizon.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143000"/>
            <a:ext cx="3108960" cy="13716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143000"/>
            <a:ext cx="31089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243584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SMART TODO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KEY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65176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Create todos in one line; the AI parses dates and priority.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Plan by horizon (today / week / month / quarter / year) — focus mode hides the rest.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Track time spent vs estimated — useful for personal calibration.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Mark recurring tasks; new instances roll forward automatically.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8412480" cy="804672"/>
          </a:xfrm>
          <a:prstGeom prst="rect">
            <a:avLst/>
          </a:prstGeom>
          <a:solidFill>
            <a:srgbClr val="FFF4EE"/>
          </a:solidFill>
          <a:ln w="9525">
            <a:solidFill>
              <a:srgbClr val="FF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64008" cy="8046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9768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💡  PRO TIP — SPONSOR FIELD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449884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When a todo has a sponsor, you can resurface 'what does this person need from me' in two clicks. Big psychological win when you start a tough conversation.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PERSONAL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PUBLIC · WISH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Wish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7280"/>
                </a:solidFill>
                <a:latin typeface="Calibri"/>
              </a:rPr>
              <a:t>Document your needs. Find your sponsor.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115568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2070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WHAT IT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389888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A collective backlog where anyone can submit a need — a new project, an MCP server, an AI agent, a data feed, a feature, an integration. Each wish carries sponsor, dates, justification, and a comment thread.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143000"/>
            <a:ext cx="3108960" cy="13716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143000"/>
            <a:ext cx="31089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1243584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WISH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KEY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265176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Submit a wish in 30 seconds — title + description + category is enough to start.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Pick an internal sponsor from your colleagues, or free-text an external name.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Cross-link to existing projects, MCPs, or agents — dropdown is category-aware.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0F1115"/>
                </a:solidFill>
                <a:latin typeface="Calibri"/>
              </a:rPr>
              <a:t>→  Comment on anyone's wish; track status (submitted → accepted → in progress → done).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06240"/>
            <a:ext cx="8412480" cy="804672"/>
          </a:xfrm>
          <a:prstGeom prst="rect">
            <a:avLst/>
          </a:prstGeom>
          <a:solidFill>
            <a:srgbClr val="FFF4EE"/>
          </a:solidFill>
          <a:ln w="9525">
            <a:solidFill>
              <a:srgbClr val="FF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206240"/>
            <a:ext cx="64008" cy="8046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429768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💡  PRO TIP — SPONSOR BEFORE YOU SUBMIT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449884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A quick 5-minute chat with your potential sponsor before you submit dramatically increases acceptance. The Wish List is the contract; the conversation is the trust.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FF3E00"/>
                </a:solidFill>
                <a:latin typeface="Calibri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65760"/>
            <a:ext cx="36576" cy="43891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548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YOUR LOCALLY HOSTED 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822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AI COMPANION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508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2C5CF"/>
                </a:solidFill>
                <a:latin typeface="Calibri"/>
              </a:rPr>
              <a:t>Three AI surfaces, one model, zero cloud calls. Everything you ask stays on your network.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2144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91056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44752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9105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3664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98448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4475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37360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9844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91056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214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44752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8366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AI COMPANION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07 · AI COMPANION  ·  ⌘K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Your AI companion — locally hosted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14400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7280"/>
                </a:solidFill>
                <a:latin typeface="Calibri"/>
              </a:rPr>
              <a:t>All AI surfaces route to YOUR configured local LLM. Nothing leaves your network.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115568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234440"/>
            <a:ext cx="27432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289304"/>
            <a:ext cx="2743200" cy="173736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1335024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E00"/>
                </a:solidFill>
                <a:latin typeface="Calibri"/>
              </a:rPr>
              <a:t>DOINg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1609344"/>
            <a:ext cx="2578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Calibri"/>
              </a:rPr>
              <a:t>Open from the top bar. Ask 'what slipped this week?', 'summarise the AI Efficiency family', 'draft a stakeholder email for project X'. The assistant has your filtered portfolio in context.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3172968"/>
            <a:ext cx="64008" cy="6400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Full portfolio context in the chat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3483864"/>
            <a:ext cx="64008" cy="6400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4198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Markdown responses with references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3794760"/>
            <a:ext cx="64008" cy="6400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7307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Works with any OpenAI-compatible endpoint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36976" y="1234440"/>
            <a:ext cx="2743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36976" y="1289304"/>
            <a:ext cx="2743200" cy="173736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46704" y="1335024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AI Executive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46704" y="1609344"/>
            <a:ext cx="2578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Calibri"/>
              </a:rPr>
              <a:t>Click the orange 'AI EXECUTIVE INSIGHT' button in the sidebar. Get a structured one-paragraph portfolio brief fit for an Exco deck — one click, no configuration.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46704" y="3172968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Portfolio KPIs automatically included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46704" y="3483864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34198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English only (by default — prompt is editable)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46704" y="3794760"/>
            <a:ext cx="64008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37307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Copy with one click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123444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08192" y="1289304"/>
            <a:ext cx="2743200" cy="1737360"/>
          </a:xfrm>
          <a:prstGeom prst="rect">
            <a:avLst/>
          </a:prstGeom>
          <a:solidFill>
            <a:srgbClr val="F9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1335024"/>
            <a:ext cx="2578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Command Palette  ⌘K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1609344"/>
            <a:ext cx="2578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Calibri"/>
              </a:rPr>
              <a:t>Press ⌘K. Fuzzy-jump to any view, search a project by name, or trigger a recently-used action. Faster than your cursor will ever be.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172968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3108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Fuzzy search across all names and tags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483864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341985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Jump directly to a project card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79476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5936" y="373075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⌘K from anywhere in the app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206240"/>
            <a:ext cx="8412480" cy="804672"/>
          </a:xfrm>
          <a:prstGeom prst="rect">
            <a:avLst/>
          </a:prstGeom>
          <a:solidFill>
            <a:srgbClr val="FFF4EE"/>
          </a:solidFill>
          <a:ln w="9525">
            <a:solidFill>
              <a:srgbClr val="FF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" y="4206240"/>
            <a:ext cx="64008" cy="8046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" y="429768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💡  WHEN THE ASSISTANT GETS STUCK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" y="449884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Open Settings → Local LLM (ask an admin) to verify the connection. The assistant shows a single error toast and stays usable for browsing the rest of the app while you debug.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NOTIFICATIONS &amp;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07 · NOTIFICATIONS &amp;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Stay on track, stay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932688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0515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2801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115"/>
                </a:solidFill>
                <a:latin typeface="Calibri"/>
              </a:rPr>
              <a:t>🔔 The Bell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627632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00">
                <a:solidFill>
                  <a:srgbClr val="0F1115"/>
                </a:solidFill>
                <a:latin typeface="Calibri"/>
              </a:rPr>
              <a:t>→  Project you own/are member of → silent &gt; 10 days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0F1115"/>
                </a:solidFill>
                <a:latin typeface="Calibri"/>
              </a:rPr>
              <a:t>→  Task assigned to you → past its ETA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0F1115"/>
                </a:solidFill>
                <a:latin typeface="Calibri"/>
              </a:rPr>
              <a:t>→  Weekly check-in → overdue by more than 8 days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0F1115"/>
                </a:solidFill>
                <a:latin typeface="Calibri"/>
              </a:rPr>
              <a:t>→  Click the bell → dismiss alerts, mark all 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051560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PROFILE &amp;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2801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115"/>
                </a:solidFill>
                <a:latin typeface="Calibri"/>
              </a:rPr>
              <a:t>🔑 Change Password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627632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00">
                <a:solidFill>
                  <a:srgbClr val="0F1115"/>
                </a:solidFill>
                <a:latin typeface="Calibri"/>
              </a:rPr>
              <a:t>→  Click the KEY icon next to your name in the sidebar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0F1115"/>
                </a:solidFill>
                <a:latin typeface="Calibri"/>
              </a:rPr>
              <a:t>→  Enter current password + new password (min 8 chars)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0F1115"/>
                </a:solidFill>
                <a:latin typeface="Calibri"/>
              </a:rPr>
              <a:t>→  Strength bar guides you to 'Strong'</a:t>
            </a:r>
          </a:p>
          <a:p>
            <a:pPr algn="l">
              <a:spcBef>
                <a:spcPts val="300"/>
              </a:spcBef>
            </a:pPr>
            <a:r>
              <a:rPr sz="1000">
                <a:solidFill>
                  <a:srgbClr val="0F1115"/>
                </a:solidFill>
                <a:latin typeface="Calibri"/>
              </a:rPr>
              <a:t>→  Passwords hashed with PBKDF2-SHA256 — never plain 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06240"/>
            <a:ext cx="8412480" cy="804672"/>
          </a:xfrm>
          <a:prstGeom prst="rect">
            <a:avLst/>
          </a:prstGeom>
          <a:solidFill>
            <a:srgbClr val="FFF4EE"/>
          </a:solidFill>
          <a:ln w="9525">
            <a:solidFill>
              <a:srgbClr val="FF3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206240"/>
            <a:ext cx="64008" cy="8046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29768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💡  FORGOT YOUR PASSWORD?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49884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115"/>
                </a:solidFill>
                <a:latin typeface="Calibri"/>
              </a:rPr>
              <a:t>Ask an admin to use Settings → Security to send you a temporary password. You will be forced to choose a new one at the next sign-in. Admins can also toggle the 'IT' flag to give you access to the Data Feeds section.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FF3E00"/>
                </a:solidFill>
                <a:latin typeface="Calibri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65760"/>
            <a:ext cx="36576" cy="43891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548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HABITS THAT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822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TIPS &amp; BEST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508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2C5CF"/>
                </a:solidFill>
                <a:latin typeface="Calibri"/>
              </a:rPr>
              <a:t>Six habits that, over a quarter, make the workspace feel like a second brain.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2144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91056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44752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9105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3664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98448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4475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37360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9844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91056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214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44752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8366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TIPS &amp; BEST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GROW INTO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Habits that compound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932688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097280"/>
            <a:ext cx="64008" cy="86868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1097280"/>
            <a:ext cx="3867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Update your check-in every Monday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1371600"/>
            <a:ext cx="3867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280"/>
                </a:solidFill>
                <a:latin typeface="Calibri"/>
              </a:rPr>
              <a:t>Two minutes. Feeds team rituals, the dashboard, and AI portfolio briefs. Skip → alert appears.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148840"/>
            <a:ext cx="64008" cy="86868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" y="2148840"/>
            <a:ext cx="3867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Live in the command palette  ⌘K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2423160"/>
            <a:ext cx="3867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280"/>
                </a:solidFill>
                <a:latin typeface="Calibri"/>
              </a:rPr>
              <a:t>Three letters. Jump. Faster than any menu — always.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00400"/>
            <a:ext cx="64008" cy="86868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3200400"/>
            <a:ext cx="3867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Use AI as a brain-dump partner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3474720"/>
            <a:ext cx="3867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280"/>
                </a:solidFill>
                <a:latin typeface="Calibri"/>
              </a:rPr>
              <a:t>Paste raw meeting notes or a URL into a description; ask 'what should I prepare for Friday?' It has read access.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1097280"/>
            <a:ext cx="64008" cy="86868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3208" y="1097280"/>
            <a:ext cx="3867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Tag aggressively, file lightly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3208" y="1371600"/>
            <a:ext cx="3867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280"/>
                </a:solidFill>
                <a:latin typeface="Calibri"/>
              </a:rPr>
              <a:t>Two short tags beat one paragraph of taxonomy. Dashboard and search both lean on tags.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2148840"/>
            <a:ext cx="64008" cy="86868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3208" y="2148840"/>
            <a:ext cx="3867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Use the Wish List instead of side-channel asks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3208" y="2423160"/>
            <a:ext cx="3867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280"/>
                </a:solidFill>
                <a:latin typeface="Calibri"/>
              </a:rPr>
              <a:t>Need an MCP for system X? Drop it in the Wish List with a sponsor. Conversations live next to the request.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3200400"/>
            <a:ext cx="64008" cy="86868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93208" y="3200400"/>
            <a:ext cx="3867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115"/>
                </a:solidFill>
                <a:latin typeface="Calibri"/>
              </a:rPr>
              <a:t>Treat the dashboard like a daily standup mirror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3208" y="3474720"/>
            <a:ext cx="3867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E7280"/>
                </a:solidFill>
                <a:latin typeface="Calibri"/>
              </a:rPr>
              <a:t>Five minutes a morning. Anything red → act. Anything green → ignore.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FF3E00"/>
                </a:solidFill>
                <a:latin typeface="Calibri"/>
              </a:rPr>
              <a:t>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65760"/>
            <a:ext cx="36576" cy="43891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548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HOW IT IS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822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ANNEX ·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508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2C5CF"/>
                </a:solidFill>
                <a:latin typeface="Calibri"/>
              </a:rPr>
              <a:t>The local-first, three-tier system that puts you in full control of your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2144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91056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44752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9105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3664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98448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4475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37360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9844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91056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214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44752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8366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ANNEX A —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ANNEX A · TECHNICAL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How the workspace fits together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932688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7280"/>
                </a:solidFill>
                <a:latin typeface="Calibri"/>
              </a:rPr>
              <a:t>Local-first, three-tier. Everything below your browser runs on hardware YOU control — no third-party SaaS in the critical path.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417320"/>
            <a:ext cx="2560320" cy="2286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417320"/>
            <a:ext cx="256032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BROWSER
React 19 + TypeScript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2011680"/>
            <a:ext cx="2340864" cy="30175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084832"/>
            <a:ext cx="2267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UI Components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2404872"/>
            <a:ext cx="2340864" cy="30175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478024"/>
            <a:ext cx="2267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Permission filter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2798064"/>
            <a:ext cx="2340864" cy="30175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871216"/>
            <a:ext cx="2267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localStorage cache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191256"/>
            <a:ext cx="2340864" cy="30175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64408"/>
            <a:ext cx="2267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SSE event listener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2542032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9272" y="23774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E00"/>
                </a:solidFill>
                <a:latin typeface="Calibr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1417320"/>
            <a:ext cx="2560320" cy="2286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0" y="1417320"/>
            <a:ext cx="2560320" cy="54864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7328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3038"/>
                </a:solidFill>
                <a:latin typeface="Calibri"/>
              </a:rPr>
              <a:t>BACKEND
FastAPI (Python)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67328" y="2011680"/>
            <a:ext cx="2340864" cy="30175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2084832"/>
            <a:ext cx="2267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/api/data (CRUD)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67328" y="2404872"/>
            <a:ext cx="2340864" cy="30175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0" y="2478024"/>
            <a:ext cx="2267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SSE broadcast (/api/events)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67328" y="2798064"/>
            <a:ext cx="2340864" cy="30175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2871216"/>
            <a:ext cx="2267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Proxy endpoints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67328" y="3191256"/>
            <a:ext cx="2340864" cy="30175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0" y="3264408"/>
            <a:ext cx="2267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Version check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2542032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11112" y="237744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E00"/>
                </a:solidFill>
                <a:latin typeface="Calibri"/>
              </a:rPr>
              <a:t>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1417320"/>
            <a:ext cx="2560320" cy="22860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49440" y="1417320"/>
            <a:ext cx="256032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59168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STORAGE + AI
Local stack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59168" y="2011680"/>
            <a:ext cx="2340864" cy="30175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0" y="2084832"/>
            <a:ext cx="2267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db.json on disk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59168" y="2404872"/>
            <a:ext cx="2340864" cy="30175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0" y="2478024"/>
            <a:ext cx="2267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localStorage mirror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59168" y="2798064"/>
            <a:ext cx="2340864" cy="30175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0" y="2871216"/>
            <a:ext cx="2267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Local LLM (Ollama…)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59168" y="3191256"/>
            <a:ext cx="2340864" cy="30175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0" y="3264408"/>
            <a:ext cx="22677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External proxies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38587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WRITE PATH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404164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Calibri"/>
              </a:rPr>
              <a:t>You edit a field → React updates state → writes to localStorage IMMEDIATELY → debounces a POST to /api/data (400ms). X-Base-Version for optimistic concurrency.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38587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READ / SYNC PATH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404164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Calibri"/>
              </a:rPr>
              <a:t>Backend pushes 'data_updated' over SSE the instant any client writes. Other tabs refresh in &lt; 100ms. 30s polling acts as a safety net. Pending edits always win.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FF3E00"/>
                </a:solidFill>
                <a:latin typeface="Calibri"/>
              </a:rPr>
              <a:t>B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65760"/>
            <a:ext cx="36576" cy="43891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548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WHO SEES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822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ANNEX · PERMISSIONS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508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2C5CF"/>
                </a:solidFill>
                <a:latin typeface="Calibri"/>
              </a:rPr>
              <a:t>The centralised role × group matrix that every screen in the workspace consults.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2144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91056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44752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9105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3664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98448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4475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37360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9844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91056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214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44752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8366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ANNEX B — PERMISSIONS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ANNEX B · ROLES &amp; PERMISSIONS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The Role × Group matrix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932688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051560"/>
            <a:ext cx="8321040" cy="41148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116128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11612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G1 — MGMT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11612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G2 — CATALOGS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9552" y="11612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G4 — COLLAB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116128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PUBLIC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463040"/>
            <a:ext cx="8321040" cy="41148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15819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Calibri"/>
              </a:rPr>
              <a:t>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1581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all view · edit ·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581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all view · edit ·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59552" y="15819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15819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865376"/>
            <a:ext cx="8321040" cy="9144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1874520"/>
            <a:ext cx="8321040" cy="411480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1993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Calibri"/>
              </a:rPr>
              <a:t>manager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1993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all view · edit ·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19933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all view · edit ·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19933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own view · edit ·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19933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all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276856"/>
            <a:ext cx="8321040" cy="9144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2286000"/>
            <a:ext cx="8321040" cy="41148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" y="24048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Calibri"/>
              </a:rPr>
              <a:t>contributor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6192" y="2404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own view · edit ·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432" y="2404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all view, own edit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9552" y="24048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own view · edit ·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88352" y="2404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2688336"/>
            <a:ext cx="8321040" cy="9144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2697480"/>
            <a:ext cx="8321040" cy="411480"/>
          </a:xfrm>
          <a:prstGeom prst="rect">
            <a:avLst/>
          </a:prstGeom>
          <a:solidFill>
            <a:srgbClr val="F0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28163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115"/>
                </a:solidFill>
                <a:latin typeface="Calibri"/>
              </a:rPr>
              <a:t>viewer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36192" y="28163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own view  (no edit)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6432" y="2816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all view, own edit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59552" y="28163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own view · edit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88352" y="28163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7280"/>
                </a:solidFill>
                <a:latin typeface="Calibri"/>
              </a:rPr>
              <a:t>all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099816"/>
            <a:ext cx="8321040" cy="9144"/>
          </a:xfrm>
          <a:prstGeom prst="rect">
            <a:avLst/>
          </a:prstGeom>
          <a:solidFill>
            <a:srgbClr val="C2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32918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GROUP GLOSSARY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547872"/>
            <a:ext cx="384048" cy="22860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3584448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3547872"/>
            <a:ext cx="321909033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Calibri"/>
              </a:rPr>
              <a:t>Projects, Timeline, Risk, Communications.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3867912"/>
            <a:ext cx="384048" cy="22860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3904488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3867912"/>
            <a:ext cx="321909033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Calibri"/>
              </a:rPr>
              <a:t>Technologies, Repos, Hackathons, MCP Hub, AI Agents.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89120" y="3547872"/>
            <a:ext cx="384048" cy="22860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0" y="3584448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46320" y="3547872"/>
            <a:ext cx="321909033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Calibri"/>
              </a:rPr>
              <a:t>Working Groups, Weekly Check-in.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89120" y="3867912"/>
            <a:ext cx="384048" cy="22860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89120" y="3904488"/>
            <a:ext cx="3840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Public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46320" y="3867912"/>
            <a:ext cx="321909033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Calibri"/>
              </a:rPr>
              <a:t>Dashboard, Smart ToDo, Wish List, User Guide.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FF3E00"/>
                </a:solidFill>
                <a:latin typeface="Calibri"/>
              </a:rPr>
              <a:t>C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365760"/>
            <a:ext cx="36576" cy="4389120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548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3E00"/>
                </a:solidFill>
                <a:latin typeface="Calibri"/>
              </a:rPr>
              <a:t>KEYBOARD + 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8229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ANNEX · SHORTCUTS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5087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2C5CF"/>
                </a:solidFill>
                <a:latin typeface="Calibri"/>
              </a:rPr>
              <a:t>For the keyboard-first user and anyone new to the DOINg.AI vocabulary.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2144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91056" y="49377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37360" y="49377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953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5840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44752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91056" y="47914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3664" y="47914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98448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44752" y="46451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37360" y="46451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52144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98448" y="44988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91056" y="44988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840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214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44752" y="43525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83664" y="43525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DOINg.AI —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008"/>
            <a:ext cx="8778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FF3E00"/>
                </a:solidFill>
                <a:latin typeface="Calibri"/>
              </a:rPr>
              <a:t>ANNEX C — SHORTCUTS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814316"/>
            <a:ext cx="292608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796028"/>
            <a:ext cx="292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1431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E7280"/>
                </a:solidFill>
                <a:latin typeface="Calibri"/>
              </a:rPr>
              <a:t>MAKE EVERY PROJECT VISIBLE  ·  DOING.AI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"/>
            <a:ext cx="1645920" cy="201168"/>
          </a:xfrm>
          <a:prstGeom prst="rect">
            <a:avLst/>
          </a:prstGeom>
          <a:solidFill>
            <a:srgbClr val="0F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ANNEX C · KEYBOARD + GLOSSARY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8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115"/>
                </a:solidFill>
                <a:latin typeface="Calibri"/>
              </a:rPr>
              <a:t>Keyboard shortcuts &amp; glossary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914400"/>
            <a:ext cx="502920" cy="36576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0058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KEYBOARD SHORTCUTS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234440"/>
            <a:ext cx="2011680" cy="292608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30759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E00"/>
                </a:solidFill>
                <a:latin typeface="Consolas"/>
              </a:rPr>
              <a:t>⌘ K  /  Ctrl 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130759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115"/>
                </a:solidFill>
                <a:latin typeface="Calibri"/>
              </a:rPr>
              <a:t>Open the Command Palette (fuzzy navigation + project jump).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691640"/>
            <a:ext cx="2011680" cy="292608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76479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E00"/>
                </a:solidFill>
                <a:latin typeface="Consolas"/>
              </a:rPr>
              <a:t>Esc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176479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115"/>
                </a:solidFill>
                <a:latin typeface="Calibri"/>
              </a:rPr>
              <a:t>Close any modal or dialog.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148840"/>
            <a:ext cx="2011680" cy="292608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22199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E00"/>
                </a:solidFill>
                <a:latin typeface="Consolas"/>
              </a:rPr>
              <a:t>Enter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222199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115"/>
                </a:solidFill>
                <a:latin typeface="Calibri"/>
              </a:rPr>
              <a:t>Confirm in dialogs; send in the assistant chat.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606040"/>
            <a:ext cx="2011680" cy="292608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67919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E00"/>
                </a:solidFill>
                <a:latin typeface="Consolas"/>
              </a:rPr>
              <a:t>Shift + Enter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267919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115"/>
                </a:solidFill>
                <a:latin typeface="Calibri"/>
              </a:rPr>
              <a:t>New line in the assistant chat (without sending).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063240"/>
            <a:ext cx="2011680" cy="292608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13639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E00"/>
                </a:solidFill>
                <a:latin typeface="Consolas"/>
              </a:rPr>
              <a:t>Tab  /  Shift+Tab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7168" y="313639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115"/>
                </a:solidFill>
                <a:latin typeface="Calibri"/>
              </a:rPr>
              <a:t>Move between form fields. Fully keyboard-navigable.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5661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7280"/>
                </a:solidFill>
                <a:latin typeface="Calibri"/>
              </a:rPr>
              <a:t>GLOSSARY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37947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3E00"/>
                </a:solidFill>
                <a:latin typeface="Calibri"/>
              </a:rPr>
              <a:t>MCP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37947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Calibri"/>
              </a:rPr>
              <a:t>Model Context Protocol — the standard for LLMs calling external tools.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1148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3E00"/>
                </a:solidFill>
                <a:latin typeface="Calibri"/>
              </a:rPr>
              <a:t>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41148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Calibri"/>
              </a:rPr>
              <a:t>Autonomous AI program with a goal, tools, and prompts.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4348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3E00"/>
                </a:solidFill>
                <a:latin typeface="Calibri"/>
              </a:rPr>
              <a:t>Family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44348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Calibri"/>
              </a:rPr>
              <a:t>Label that bundles related projects or MCPs together.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7548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3E00"/>
                </a:solidFill>
                <a:latin typeface="Calibri"/>
              </a:rPr>
              <a:t>SSE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47548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Calibri"/>
              </a:rPr>
              <a:t>Server-Sent Events — one-way push channel from backend to browser.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37947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3E00"/>
                </a:solidFill>
                <a:latin typeface="Calibri"/>
              </a:rPr>
              <a:t>Silver copy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37947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Calibri"/>
              </a:rPr>
              <a:t>Clean, query-ready copy of source data in a data warehouse.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1148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3E00"/>
                </a:solidFill>
                <a:latin typeface="Calibri"/>
              </a:rPr>
              <a:t>Working Group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411480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Calibri"/>
              </a:rPr>
              <a:t>Standing cross-functional squad with tasks, notes, and decisions.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4348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3E00"/>
                </a:solidFill>
                <a:latin typeface="Calibri"/>
              </a:rPr>
              <a:t>Wish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9320" y="44348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115"/>
                </a:solidFill>
                <a:latin typeface="Calibri"/>
              </a:rPr>
              <a:t>Documented need (project / MCP / agent / feature) routed to a sponsor.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Local. Fast. AI-augmented.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3E00"/>
                </a:solidFill>
                <a:latin typeface="Calibri"/>
              </a:rPr>
              <a:t>Yours.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86000"/>
            <a:ext cx="822960" cy="54864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42316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2C5CF"/>
                </a:solidFill>
                <a:latin typeface="Calibri"/>
              </a:rPr>
              <a:t>You now know what DOINg.AI can do for your team. Keep this deck handy for new joiners, or jump back into the in-app User Guide whenever you need a quick reminder — the content there is always the live source of truth.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7280"/>
                </a:solidFill>
                <a:latin typeface="Calibri"/>
              </a:rPr>
              <a:t>EDITION 2026  ·  V1.0  ·  GENERATED 2026-05-28  ·  PUBLIC EDITION  ·  ADMIN FEATURES NOT INCLUDED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438912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36991" y="438912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599" y="438912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75903" y="438912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90687" y="424281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5" y="424281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9" y="424281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44383" y="409651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6991" y="409651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5" y="409651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22207" y="409651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395020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90687" y="395020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36991" y="395020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75903" y="395020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22207" y="395020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44383" y="380390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90687" y="380390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599" y="380390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75903" y="380390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79" y="365760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44383" y="365760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5" y="365760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599" y="365760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22207" y="365760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79" y="351129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36991" y="351129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83295" y="351129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75903" y="351129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90687" y="336499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36991" y="336499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599" y="336499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644383" y="321868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90687" y="321868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83295" y="321868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22207" y="321868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98079" y="307238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44383" y="307238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36991" y="307238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75903" y="307238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498079" y="292608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90687" y="292608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29599" y="292608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644383" y="277977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83295" y="277977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522207" y="277977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98079" y="263347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936991" y="263347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75903" y="263347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90687" y="248716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29599" y="248716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522207" y="248716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644383" y="234086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083295" y="234086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375903" y="234086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522207" y="234086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498079" y="21945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936991" y="21945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29599" y="2194560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375903" y="2194560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790687" y="20482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083295" y="2048256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29599" y="2048256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644383" y="19019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936991" y="1901952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083295" y="19019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522207" y="1901952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498079" y="17556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90687" y="17556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936991" y="17556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75903" y="1755648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522207" y="1755648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644383" y="16093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790687" y="16093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229599" y="1609344"/>
            <a:ext cx="118872" cy="118872"/>
          </a:xfrm>
          <a:prstGeom prst="rect">
            <a:avLst/>
          </a:prstGeom>
          <a:solidFill>
            <a:srgbClr val="2D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75903" y="1609344"/>
            <a:ext cx="118872" cy="118872"/>
          </a:xfrm>
          <a:prstGeom prst="rect">
            <a:avLst/>
          </a:prstGeom>
          <a:solidFill>
            <a:srgbClr val="FF3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